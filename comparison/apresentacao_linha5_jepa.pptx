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5"/>
    <p:sldMasterId id="2147483693" r:id="rId6"/>
    <p:sldMasterId id="2147483694" r:id="rId7"/>
    <p:sldMasterId id="214748369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y="6858000" cx="12191675"/>
  <p:notesSz cx="6858000" cy="9144000"/>
  <p:embeddedFontLst>
    <p:embeddedFont>
      <p:font typeface="PT Sans Narrow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301BE8-C4C1-4CC9-9FC5-CCD455860176}">
  <a:tblStyle styleId="{CE301BE8-C4C1-4CC9-9FC5-CCD4558601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font" Target="fonts/PTSansNarrow-regular.fntdata"/><Relationship Id="rId21" Type="http://schemas.openxmlformats.org/officeDocument/2006/relationships/slide" Target="slides/slide12.xml"/><Relationship Id="rId24" Type="http://schemas.openxmlformats.org/officeDocument/2006/relationships/font" Target="fonts/OpenSans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fd3052c9_0_70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3fd3052c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3fd3052c9_1_75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f3fd3052c9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40501d2c5_2_29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40501d2c5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3fd3052c9_1_154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3fd3052c9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40501d2c5_2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40501d2c5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3fd3052c9_1_166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3fd3052c9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40501d2c5_2_48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40501d2c5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a8cf3236e_0_0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a8cf323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40501d2c5_2_57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40501d2c5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a8cf3236e_0_13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a8cf3236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3fd3052c9_1_188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3fd3052c9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40501d2c5_2_195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40501d2c5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4"/>
          <p:cNvGrpSpPr/>
          <p:nvPr/>
        </p:nvGrpSpPr>
        <p:grpSpPr>
          <a:xfrm>
            <a:off x="1338876" y="1046837"/>
            <a:ext cx="9515557" cy="203195"/>
            <a:chOff x="1346429" y="1011300"/>
            <a:chExt cx="6452100" cy="152400"/>
          </a:xfrm>
        </p:grpSpPr>
        <p:cxnSp>
          <p:nvCxnSpPr>
            <p:cNvPr id="86" name="Google Shape;86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8" name="Google Shape;88;p14"/>
          <p:cNvGrpSpPr/>
          <p:nvPr/>
        </p:nvGrpSpPr>
        <p:grpSpPr>
          <a:xfrm>
            <a:off x="1338885" y="6510198"/>
            <a:ext cx="9515557" cy="203195"/>
            <a:chOff x="1346435" y="3969088"/>
            <a:chExt cx="6452100" cy="152400"/>
          </a:xfrm>
        </p:grpSpPr>
        <p:cxnSp>
          <p:nvCxnSpPr>
            <p:cNvPr id="89" name="Google Shape;89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" name="Google Shape;90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1338831" y="2335685"/>
            <a:ext cx="9515400" cy="136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Font typeface="Times New Roman"/>
              <a:buNone/>
              <a:defRPr sz="7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2849557" y="3800052"/>
            <a:ext cx="64938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-67" y="3429200"/>
            <a:ext cx="121917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415589" y="1086400"/>
            <a:ext cx="11428200" cy="125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-100" y="6727600"/>
            <a:ext cx="121917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415589" y="1688433"/>
            <a:ext cx="113604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3" name="Google Shape;103;p16"/>
          <p:cNvGrpSpPr/>
          <p:nvPr/>
        </p:nvGrpSpPr>
        <p:grpSpPr>
          <a:xfrm>
            <a:off x="9147032" y="6287163"/>
            <a:ext cx="1164798" cy="425728"/>
            <a:chOff x="6337698" y="4608819"/>
            <a:chExt cx="1164566" cy="425600"/>
          </a:xfrm>
        </p:grpSpPr>
        <p:pic>
          <p:nvPicPr>
            <p:cNvPr id="104" name="Google Shape;104;p16"/>
            <p:cNvPicPr preferRelativeResize="0"/>
            <p:nvPr/>
          </p:nvPicPr>
          <p:blipFill rotWithShape="1">
            <a:blip r:embed="rId2">
              <a:alphaModFix/>
            </a:blip>
            <a:srcRect b="0" l="0" r="73961" t="0"/>
            <a:stretch/>
          </p:blipFill>
          <p:spPr>
            <a:xfrm>
              <a:off x="7088863" y="4636991"/>
              <a:ext cx="413401" cy="396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37698" y="4608819"/>
              <a:ext cx="635161" cy="425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6"/>
          <p:cNvSpPr txBox="1"/>
          <p:nvPr/>
        </p:nvSpPr>
        <p:spPr>
          <a:xfrm>
            <a:off x="10471188" y="6315407"/>
            <a:ext cx="1249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</a:rPr>
              <a:t>IPASP-PR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15589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2" type="body"/>
          </p:nvPr>
        </p:nvSpPr>
        <p:spPr>
          <a:xfrm>
            <a:off x="6443028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None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15589" y="1852800"/>
            <a:ext cx="51507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653649" y="701800"/>
            <a:ext cx="74847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6095838" y="0"/>
            <a:ext cx="60957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21"/>
          <p:cNvCxnSpPr/>
          <p:nvPr/>
        </p:nvCxnSpPr>
        <p:spPr>
          <a:xfrm>
            <a:off x="6706055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21"/>
          <p:cNvSpPr txBox="1"/>
          <p:nvPr>
            <p:ph type="title"/>
          </p:nvPr>
        </p:nvSpPr>
        <p:spPr>
          <a:xfrm>
            <a:off x="353991" y="1386233"/>
            <a:ext cx="5393400" cy="2234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1" type="subTitle"/>
          </p:nvPr>
        </p:nvSpPr>
        <p:spPr>
          <a:xfrm>
            <a:off x="353991" y="3635833"/>
            <a:ext cx="53934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6585824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415589" y="5640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-100" y="6727600"/>
            <a:ext cx="121917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hasCustomPrompt="1" type="title"/>
          </p:nvPr>
        </p:nvSpPr>
        <p:spPr>
          <a:xfrm>
            <a:off x="415589" y="1739800"/>
            <a:ext cx="113604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415589" y="3994200"/>
            <a:ext cx="113604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6"/>
          <p:cNvGrpSpPr/>
          <p:nvPr/>
        </p:nvGrpSpPr>
        <p:grpSpPr>
          <a:xfrm>
            <a:off x="1338876" y="1046837"/>
            <a:ext cx="9515557" cy="203195"/>
            <a:chOff x="1346429" y="1011300"/>
            <a:chExt cx="6452100" cy="152400"/>
          </a:xfrm>
        </p:grpSpPr>
        <p:cxnSp>
          <p:nvCxnSpPr>
            <p:cNvPr id="145" name="Google Shape;145;p26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6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7" name="Google Shape;147;p26"/>
          <p:cNvGrpSpPr/>
          <p:nvPr/>
        </p:nvGrpSpPr>
        <p:grpSpPr>
          <a:xfrm>
            <a:off x="1338885" y="6510198"/>
            <a:ext cx="9515557" cy="203195"/>
            <a:chOff x="1346435" y="3969088"/>
            <a:chExt cx="6452100" cy="152400"/>
          </a:xfrm>
        </p:grpSpPr>
        <p:cxnSp>
          <p:nvCxnSpPr>
            <p:cNvPr id="148" name="Google Shape;148;p26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6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0" name="Google Shape;150;p26"/>
          <p:cNvSpPr txBox="1"/>
          <p:nvPr>
            <p:ph type="ctrTitle"/>
          </p:nvPr>
        </p:nvSpPr>
        <p:spPr>
          <a:xfrm>
            <a:off x="1338831" y="2335685"/>
            <a:ext cx="9515400" cy="136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Font typeface="Times New Roman"/>
              <a:buNone/>
              <a:defRPr sz="7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2849557" y="3800052"/>
            <a:ext cx="64938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>
            <a:off x="-67" y="3429200"/>
            <a:ext cx="121917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415589" y="1086400"/>
            <a:ext cx="11428200" cy="125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/>
          <p:nvPr/>
        </p:nvSpPr>
        <p:spPr>
          <a:xfrm>
            <a:off x="-100" y="6727600"/>
            <a:ext cx="121917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415589" y="1688433"/>
            <a:ext cx="113604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9147032" y="6287163"/>
            <a:ext cx="1164798" cy="425728"/>
            <a:chOff x="6337698" y="4608819"/>
            <a:chExt cx="1164566" cy="425600"/>
          </a:xfrm>
        </p:grpSpPr>
        <p:pic>
          <p:nvPicPr>
            <p:cNvPr id="163" name="Google Shape;163;p28"/>
            <p:cNvPicPr preferRelativeResize="0"/>
            <p:nvPr/>
          </p:nvPicPr>
          <p:blipFill rotWithShape="1">
            <a:blip r:embed="rId2">
              <a:alphaModFix/>
            </a:blip>
            <a:srcRect b="0" l="0" r="73961" t="0"/>
            <a:stretch/>
          </p:blipFill>
          <p:spPr>
            <a:xfrm>
              <a:off x="7088863" y="4636991"/>
              <a:ext cx="413401" cy="396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37698" y="4608819"/>
              <a:ext cx="635161" cy="425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8"/>
          <p:cNvSpPr txBox="1"/>
          <p:nvPr/>
        </p:nvSpPr>
        <p:spPr>
          <a:xfrm>
            <a:off x="10471188" y="6315407"/>
            <a:ext cx="1249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</a:rPr>
              <a:t>IPASP-PR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415589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9" name="Google Shape;169;p29"/>
          <p:cNvSpPr txBox="1"/>
          <p:nvPr>
            <p:ph idx="2" type="body"/>
          </p:nvPr>
        </p:nvSpPr>
        <p:spPr>
          <a:xfrm>
            <a:off x="6443028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3" name="Google Shape;173;p3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None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415589" y="1852800"/>
            <a:ext cx="51507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7" name="Google Shape;177;p3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653649" y="701800"/>
            <a:ext cx="74847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0" name="Google Shape;180;p3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/>
          <p:nvPr/>
        </p:nvSpPr>
        <p:spPr>
          <a:xfrm>
            <a:off x="6095838" y="0"/>
            <a:ext cx="60957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" name="Google Shape;183;p33"/>
          <p:cNvCxnSpPr/>
          <p:nvPr/>
        </p:nvCxnSpPr>
        <p:spPr>
          <a:xfrm>
            <a:off x="6706055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33"/>
          <p:cNvSpPr txBox="1"/>
          <p:nvPr>
            <p:ph type="title"/>
          </p:nvPr>
        </p:nvSpPr>
        <p:spPr>
          <a:xfrm>
            <a:off x="353991" y="1386233"/>
            <a:ext cx="5393400" cy="2234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1" type="subTitle"/>
          </p:nvPr>
        </p:nvSpPr>
        <p:spPr>
          <a:xfrm>
            <a:off x="353991" y="3635833"/>
            <a:ext cx="53934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6" name="Google Shape;186;p33"/>
          <p:cNvSpPr txBox="1"/>
          <p:nvPr>
            <p:ph idx="2" type="body"/>
          </p:nvPr>
        </p:nvSpPr>
        <p:spPr>
          <a:xfrm>
            <a:off x="6585824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7" name="Google Shape;187;p3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415589" y="5640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/>
        </p:txBody>
      </p:sp>
      <p:sp>
        <p:nvSpPr>
          <p:cNvPr id="190" name="Google Shape;190;p3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/>
          <p:nvPr/>
        </p:nvSpPr>
        <p:spPr>
          <a:xfrm>
            <a:off x="-100" y="6727600"/>
            <a:ext cx="121917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5"/>
          <p:cNvSpPr txBox="1"/>
          <p:nvPr>
            <p:ph hasCustomPrompt="1" type="title"/>
          </p:nvPr>
        </p:nvSpPr>
        <p:spPr>
          <a:xfrm>
            <a:off x="415589" y="1739800"/>
            <a:ext cx="113604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415589" y="3994200"/>
            <a:ext cx="113604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5" name="Google Shape;195;p3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38"/>
          <p:cNvGrpSpPr/>
          <p:nvPr/>
        </p:nvGrpSpPr>
        <p:grpSpPr>
          <a:xfrm>
            <a:off x="1338876" y="1046837"/>
            <a:ext cx="9515557" cy="203195"/>
            <a:chOff x="1346429" y="1011300"/>
            <a:chExt cx="6452100" cy="152400"/>
          </a:xfrm>
        </p:grpSpPr>
        <p:cxnSp>
          <p:nvCxnSpPr>
            <p:cNvPr id="204" name="Google Shape;204;p38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38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8"/>
          <p:cNvGrpSpPr/>
          <p:nvPr/>
        </p:nvGrpSpPr>
        <p:grpSpPr>
          <a:xfrm>
            <a:off x="1338885" y="6510198"/>
            <a:ext cx="9515557" cy="203195"/>
            <a:chOff x="1346435" y="3969088"/>
            <a:chExt cx="6452100" cy="152400"/>
          </a:xfrm>
        </p:grpSpPr>
        <p:cxnSp>
          <p:nvCxnSpPr>
            <p:cNvPr id="207" name="Google Shape;207;p38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38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9" name="Google Shape;209;p38"/>
          <p:cNvSpPr txBox="1"/>
          <p:nvPr>
            <p:ph type="ctrTitle"/>
          </p:nvPr>
        </p:nvSpPr>
        <p:spPr>
          <a:xfrm>
            <a:off x="1338831" y="2335685"/>
            <a:ext cx="9515400" cy="136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Font typeface="Times New Roman"/>
              <a:buNone/>
              <a:defRPr sz="7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10" name="Google Shape;210;p38"/>
          <p:cNvSpPr txBox="1"/>
          <p:nvPr>
            <p:ph idx="1" type="subTitle"/>
          </p:nvPr>
        </p:nvSpPr>
        <p:spPr>
          <a:xfrm>
            <a:off x="2849557" y="3800052"/>
            <a:ext cx="64938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11" name="Google Shape;211;p3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/>
          <p:nvPr/>
        </p:nvSpPr>
        <p:spPr>
          <a:xfrm>
            <a:off x="-67" y="3429200"/>
            <a:ext cx="121917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9"/>
          <p:cNvSpPr txBox="1"/>
          <p:nvPr>
            <p:ph type="title"/>
          </p:nvPr>
        </p:nvSpPr>
        <p:spPr>
          <a:xfrm>
            <a:off x="415589" y="1086400"/>
            <a:ext cx="11428200" cy="125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700"/>
              <a:buFont typeface="Times New Roman"/>
              <a:buNone/>
              <a:defRPr sz="47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5" name="Google Shape;215;p3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/>
          <p:nvPr/>
        </p:nvSpPr>
        <p:spPr>
          <a:xfrm>
            <a:off x="-100" y="6727600"/>
            <a:ext cx="121917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0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19" name="Google Shape;219;p40"/>
          <p:cNvSpPr txBox="1"/>
          <p:nvPr>
            <p:ph idx="1" type="body"/>
          </p:nvPr>
        </p:nvSpPr>
        <p:spPr>
          <a:xfrm>
            <a:off x="415589" y="1688433"/>
            <a:ext cx="113604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0" name="Google Shape;220;p4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1" name="Google Shape;221;p40"/>
          <p:cNvGrpSpPr/>
          <p:nvPr/>
        </p:nvGrpSpPr>
        <p:grpSpPr>
          <a:xfrm>
            <a:off x="9147032" y="6287163"/>
            <a:ext cx="1164798" cy="425728"/>
            <a:chOff x="6337698" y="4608819"/>
            <a:chExt cx="1164566" cy="425600"/>
          </a:xfrm>
        </p:grpSpPr>
        <p:pic>
          <p:nvPicPr>
            <p:cNvPr id="222" name="Google Shape;222;p40"/>
            <p:cNvPicPr preferRelativeResize="0"/>
            <p:nvPr/>
          </p:nvPicPr>
          <p:blipFill rotWithShape="1">
            <a:blip r:embed="rId2">
              <a:alphaModFix/>
            </a:blip>
            <a:srcRect b="0" l="0" r="73961" t="0"/>
            <a:stretch/>
          </p:blipFill>
          <p:spPr>
            <a:xfrm>
              <a:off x="7088863" y="4636991"/>
              <a:ext cx="413401" cy="3969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37698" y="4608819"/>
              <a:ext cx="635161" cy="425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4" name="Google Shape;224;p40"/>
          <p:cNvSpPr txBox="1"/>
          <p:nvPr/>
        </p:nvSpPr>
        <p:spPr>
          <a:xfrm>
            <a:off x="10471188" y="6315407"/>
            <a:ext cx="12495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</a:rPr>
              <a:t>IPASP-PR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7" name="Google Shape;227;p41"/>
          <p:cNvSpPr txBox="1"/>
          <p:nvPr>
            <p:ph idx="1" type="body"/>
          </p:nvPr>
        </p:nvSpPr>
        <p:spPr>
          <a:xfrm>
            <a:off x="415589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8" name="Google Shape;228;p41"/>
          <p:cNvSpPr txBox="1"/>
          <p:nvPr>
            <p:ph idx="2" type="body"/>
          </p:nvPr>
        </p:nvSpPr>
        <p:spPr>
          <a:xfrm>
            <a:off x="6443028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9" name="Google Shape;229;p4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Times New Roman"/>
              <a:buNone/>
              <a:defRPr sz="45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None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35" name="Google Shape;235;p43"/>
          <p:cNvSpPr txBox="1"/>
          <p:nvPr>
            <p:ph idx="1" type="body"/>
          </p:nvPr>
        </p:nvSpPr>
        <p:spPr>
          <a:xfrm>
            <a:off x="415589" y="1852800"/>
            <a:ext cx="51507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6" name="Google Shape;236;p4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653649" y="701800"/>
            <a:ext cx="74847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Times New Roman"/>
              <a:buNone/>
              <a:defRPr b="0" sz="7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9" name="Google Shape;239;p4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/>
          <p:nvPr/>
        </p:nvSpPr>
        <p:spPr>
          <a:xfrm>
            <a:off x="6095838" y="0"/>
            <a:ext cx="60957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45"/>
          <p:cNvCxnSpPr/>
          <p:nvPr/>
        </p:nvCxnSpPr>
        <p:spPr>
          <a:xfrm>
            <a:off x="6706055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45"/>
          <p:cNvSpPr txBox="1"/>
          <p:nvPr>
            <p:ph type="title"/>
          </p:nvPr>
        </p:nvSpPr>
        <p:spPr>
          <a:xfrm>
            <a:off x="353991" y="1386233"/>
            <a:ext cx="5393400" cy="2234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Times New Roman"/>
              <a:buNone/>
              <a:defRPr sz="56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4" name="Google Shape;244;p45"/>
          <p:cNvSpPr txBox="1"/>
          <p:nvPr>
            <p:ph idx="1" type="subTitle"/>
          </p:nvPr>
        </p:nvSpPr>
        <p:spPr>
          <a:xfrm>
            <a:off x="353991" y="3635833"/>
            <a:ext cx="53934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5" name="Google Shape;245;p45"/>
          <p:cNvSpPr txBox="1"/>
          <p:nvPr>
            <p:ph idx="2" type="body"/>
          </p:nvPr>
        </p:nvSpPr>
        <p:spPr>
          <a:xfrm>
            <a:off x="6585824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●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○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Char char="■"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6" name="Google Shape;246;p4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idx="1" type="body"/>
          </p:nvPr>
        </p:nvSpPr>
        <p:spPr>
          <a:xfrm>
            <a:off x="415589" y="5640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/>
        </p:txBody>
      </p:sp>
      <p:sp>
        <p:nvSpPr>
          <p:cNvPr id="249" name="Google Shape;249;p4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7"/>
          <p:cNvSpPr/>
          <p:nvPr/>
        </p:nvSpPr>
        <p:spPr>
          <a:xfrm>
            <a:off x="-100" y="6727600"/>
            <a:ext cx="121917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7"/>
          <p:cNvSpPr txBox="1"/>
          <p:nvPr>
            <p:ph hasCustomPrompt="1" type="title"/>
          </p:nvPr>
        </p:nvSpPr>
        <p:spPr>
          <a:xfrm>
            <a:off x="415589" y="1739800"/>
            <a:ext cx="113604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Font typeface="Times New Roman"/>
              <a:buNone/>
              <a:defRPr sz="1730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t>xx%</a:t>
            </a:r>
          </a:p>
        </p:txBody>
      </p:sp>
      <p:sp>
        <p:nvSpPr>
          <p:cNvPr id="253" name="Google Shape;253;p47"/>
          <p:cNvSpPr txBox="1"/>
          <p:nvPr>
            <p:ph idx="1" type="body"/>
          </p:nvPr>
        </p:nvSpPr>
        <p:spPr>
          <a:xfrm>
            <a:off x="415589" y="3994200"/>
            <a:ext cx="113604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■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imes New Roman"/>
              <a:buNone/>
              <a:defRPr b="1" sz="4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15589" y="1688433"/>
            <a:ext cx="113604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  <a:defRPr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imes New Roman"/>
              <a:buNone/>
              <a:defRPr b="1" sz="4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415589" y="1688433"/>
            <a:ext cx="113604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  <a:defRPr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imes New Roman"/>
              <a:buNone/>
              <a:defRPr b="1" sz="4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415589" y="1688433"/>
            <a:ext cx="113604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  <a:defRPr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○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■"/>
              <a:defRPr sz="1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9"/>
          <p:cNvSpPr txBox="1"/>
          <p:nvPr>
            <p:ph type="ctrTitle"/>
          </p:nvPr>
        </p:nvSpPr>
        <p:spPr>
          <a:xfrm>
            <a:off x="1068238" y="1283360"/>
            <a:ext cx="10221000" cy="192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60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Joint-Embedding Predictive Architectures (JEPA)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900"/>
          </a:p>
        </p:txBody>
      </p:sp>
      <p:sp>
        <p:nvSpPr>
          <p:cNvPr id="262" name="Google Shape;262;p49"/>
          <p:cNvSpPr txBox="1"/>
          <p:nvPr>
            <p:ph idx="1" type="subTitle"/>
          </p:nvPr>
        </p:nvSpPr>
        <p:spPr>
          <a:xfrm>
            <a:off x="1268975" y="3642275"/>
            <a:ext cx="9635700" cy="284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 sz="2400"/>
              <a:t>Research Line V</a:t>
            </a:r>
            <a:endParaRPr sz="24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24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 sz="2400"/>
              <a:t>Study and implementation of techniques for hierarchical consistency, confidence calibration and VLM.</a:t>
            </a:r>
            <a:endParaRPr sz="24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24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 sz="2400"/>
              <a:t>Student: Pedro P. M. (</a:t>
            </a:r>
            <a:r>
              <a:rPr lang="en-US" sz="2400"/>
              <a:t>Undergraduate Student)</a:t>
            </a:r>
            <a:endParaRPr sz="24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 sz="2400"/>
              <a:t>Advisor: Prof. PhD. Luiz E. S. de Oliveira</a:t>
            </a:r>
            <a:endParaRPr sz="2400"/>
          </a:p>
          <a:p>
            <a:pPr indent="0" lvl="0" marL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2400"/>
          </a:p>
          <a:p>
            <a:pPr indent="-1409700" lvl="0" marL="139700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 sz="2400"/>
              <a:t>24/08/2026</a:t>
            </a:r>
            <a:endParaRPr sz="2400"/>
          </a:p>
        </p:txBody>
      </p:sp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617" y="96200"/>
            <a:ext cx="1213596" cy="8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9"/>
          <p:cNvSpPr txBox="1"/>
          <p:nvPr/>
        </p:nvSpPr>
        <p:spPr>
          <a:xfrm>
            <a:off x="7901599" y="368500"/>
            <a:ext cx="19236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000000"/>
                </a:solidFill>
              </a:rPr>
              <a:t>IPASP-PR</a:t>
            </a:r>
            <a:endParaRPr sz="3100">
              <a:solidFill>
                <a:srgbClr val="000000"/>
              </a:solidFill>
            </a:endParaRPr>
          </a:p>
        </p:txBody>
      </p:sp>
      <p:grpSp>
        <p:nvGrpSpPr>
          <p:cNvPr id="265" name="Google Shape;265;p49"/>
          <p:cNvGrpSpPr/>
          <p:nvPr/>
        </p:nvGrpSpPr>
        <p:grpSpPr>
          <a:xfrm>
            <a:off x="5014594" y="135401"/>
            <a:ext cx="2543762" cy="812886"/>
            <a:chOff x="1295987" y="89675"/>
            <a:chExt cx="2097256" cy="670200"/>
          </a:xfrm>
        </p:grpSpPr>
        <p:pic>
          <p:nvPicPr>
            <p:cNvPr id="266" name="Google Shape;266;p49"/>
            <p:cNvPicPr preferRelativeResize="0"/>
            <p:nvPr/>
          </p:nvPicPr>
          <p:blipFill rotWithShape="1">
            <a:blip r:embed="rId4">
              <a:alphaModFix/>
            </a:blip>
            <a:srcRect b="0" l="0" r="73961" t="0"/>
            <a:stretch/>
          </p:blipFill>
          <p:spPr>
            <a:xfrm>
              <a:off x="1295987" y="106501"/>
              <a:ext cx="651259" cy="6252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49"/>
            <p:cNvSpPr txBox="1"/>
            <p:nvPr/>
          </p:nvSpPr>
          <p:spPr>
            <a:xfrm>
              <a:off x="1871043" y="89675"/>
              <a:ext cx="1522200" cy="6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0900" lIns="110900" spcFirstLastPara="1" rIns="110900" wrap="square" tIns="110900">
              <a:spAutoFit/>
            </a:bodyPr>
            <a:lstStyle/>
            <a:p>
              <a:pPr indent="0" lvl="0" marL="0" rtl="0" algn="l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Vision, Robotics and Imaging Laboratory</a:t>
              </a:r>
              <a:endParaRPr sz="17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0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US" sz="256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The UFPR-VeSV Dataset: 99.5% of the Hierarchical Label Space is Invalid</a:t>
            </a:r>
            <a:endParaRPr b="0" sz="16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10"/>
          </a:p>
        </p:txBody>
      </p:sp>
      <p:sp>
        <p:nvSpPr>
          <p:cNvPr id="273" name="Google Shape;273;p5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50"/>
          <p:cNvSpPr txBox="1"/>
          <p:nvPr/>
        </p:nvSpPr>
        <p:spPr>
          <a:xfrm>
            <a:off x="457200" y="1737360"/>
            <a:ext cx="5303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Dataset Structure &amp; Subgroups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UFPR-VeSV Dataset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Focuses on fine-grained vehicle classification using 24,945 image crops from 16,297 real-world vehicles.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Subgroup Mix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Composed of standard daylight RGB images and a critical subgroup of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21.5% Infrared (IR)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night camera images.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Hierarchical Tasks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Multi-task classification predicting three labels: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(14 classes),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Make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(26 classes), and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(136 classes).</a:t>
            </a:r>
            <a:endParaRPr sz="1900"/>
          </a:p>
        </p:txBody>
      </p:sp>
      <p:sp>
        <p:nvSpPr>
          <p:cNvPr id="275" name="Google Shape;275;p50"/>
          <p:cNvSpPr txBox="1"/>
          <p:nvPr/>
        </p:nvSpPr>
        <p:spPr>
          <a:xfrm>
            <a:off x="6400800" y="1737360"/>
            <a:ext cx="5303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The Combinatorial Trap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Exploding Search Space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Multiplying the hierarchy classes yields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49,504 potential combinations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(14 x 26 x 136).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Physical Catalog Restraints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In reality, only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225 real vehicle tuples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exist in the physical world (0.45% of the total space).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Marginal Decoding Issue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Decodifying each label independently creates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99.55% dead zones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, resulting in absurd predictions (e.g., *Motocicleta Ford Civic*).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1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6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Lightweight Edge Models Generate Up to 33.0% Physically Impossible Tuples</a:t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1" name="Google Shape;281;p5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51"/>
          <p:cNvSpPr txBox="1"/>
          <p:nvPr/>
        </p:nvSpPr>
        <p:spPr>
          <a:xfrm>
            <a:off x="457200" y="1737350"/>
            <a:ext cx="113187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The Cost of Edge Deployment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Hardware Constraints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Public safety cameras rely on real-time, lightweight networks (such as YOLO or MobileNet) due to edge processing limits.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Reliability Gap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Independent marginal decoding on small models results in catastrophic logical failures.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Correction Overhead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Fixing this requires post-processing scripts like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Hierarchically Consistent Decoding (HCD)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, which adds latency.</a:t>
            </a:r>
            <a:endParaRPr b="1" sz="2300">
              <a:solidFill>
                <a:srgbClr val="009B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83" name="Google Shape;283;p51" title="TABELA~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530" y="3946100"/>
            <a:ext cx="6456397" cy="216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2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6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The JEPA Paradigm: Predicting in Abstract Latent Space to Ignore Pixel Noise</a:t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9" name="Google Shape;289;p5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52"/>
          <p:cNvSpPr txBox="1"/>
          <p:nvPr/>
        </p:nvSpPr>
        <p:spPr>
          <a:xfrm>
            <a:off x="457200" y="1828800"/>
            <a:ext cx="3474600" cy="3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Generative (e.g., MAE)</a:t>
            </a:r>
            <a:endParaRPr sz="20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Pixel Reconstruction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Forces the decoder to predict raw RGB values of masked blocks.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Wasteful Compute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Spends high training capacity on irrelevant details (rain, shadows, leaves).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Noise Sensitive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Fails easily under camera distortions or infrared shifts.</a:t>
            </a:r>
            <a:endParaRPr sz="2000"/>
          </a:p>
        </p:txBody>
      </p:sp>
      <p:sp>
        <p:nvSpPr>
          <p:cNvPr id="291" name="Google Shape;291;p52"/>
          <p:cNvSpPr txBox="1"/>
          <p:nvPr/>
        </p:nvSpPr>
        <p:spPr>
          <a:xfrm>
            <a:off x="4297680" y="1828800"/>
            <a:ext cx="3474600" cy="4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Contrastive (e.g., CLIP)</a:t>
            </a:r>
            <a:endParaRPr sz="20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Complete Image Matching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Contrasts whole augmented views of images.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Domain Fragility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Severely degraded by domain changes where color/texture shortcuts disappear.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Heavy Scaling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Needs massive datasets and extremely large batches to avoid collapse.</a:t>
            </a:r>
            <a:endParaRPr sz="2000"/>
          </a:p>
        </p:txBody>
      </p:sp>
      <p:sp>
        <p:nvSpPr>
          <p:cNvPr id="292" name="Google Shape;292;p52"/>
          <p:cNvSpPr txBox="1"/>
          <p:nvPr/>
        </p:nvSpPr>
        <p:spPr>
          <a:xfrm>
            <a:off x="8138160" y="1828800"/>
            <a:ext cx="3474600" cy="3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Predictive Latent (JEPA)</a:t>
            </a:r>
            <a:endParaRPr sz="20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Embedding Prediction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Predicts masked targets in an abstract, learned representation space.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Noise Filtering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Bypasses raw pixel prediction, focusing purely on high-level semantical structures.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10x Faster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Converges up to ten times faster than generative MAE baselines.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8000"/>
            <a:ext cx="11886876" cy="2709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4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6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I-JEPA Pipeline: Learning Invariant Vehicle Geometry Without Human Labels</a:t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3" name="Google Shape;303;p5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54"/>
          <p:cNvSpPr txBox="1"/>
          <p:nvPr/>
        </p:nvSpPr>
        <p:spPr>
          <a:xfrm>
            <a:off x="457200" y="1737360"/>
            <a:ext cx="53034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The Latent Guessing Game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Context Block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A large visible portion (0.85 to 1.0 scale) is fed through the Context Encoder.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Target Blocks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4 hidden blocks (0.15 to 0.2 scale) are processed by a Target Encoder to generate ground-truth representations.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Predictor Scratchpad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A narrow ViT that predicts target features using only the context output and positional tokens.</a:t>
            </a:r>
            <a:endParaRPr sz="1900"/>
          </a:p>
        </p:txBody>
      </p:sp>
      <p:sp>
        <p:nvSpPr>
          <p:cNvPr id="305" name="Google Shape;305;p54"/>
          <p:cNvSpPr txBox="1"/>
          <p:nvPr/>
        </p:nvSpPr>
        <p:spPr>
          <a:xfrm>
            <a:off x="6400800" y="1737360"/>
            <a:ext cx="5303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Eliminating Domain Disparity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Mixed Pretraining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Raw vehicle crops (both RGB Daylight and 21.5% Infrared Night) are trained together without any labels.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Preventing Collapse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Target Encoder weights are updated via Exponential Moving Average (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EMA, momentum 0.996 to 1.0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Geometric Invariance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Forces the encoder to learn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structural geometry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(wheel arches, rooflines, chassis) rather than color shortcuts.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5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6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LeJEPA: Eliminating Heuristics via Isotropic Gaussian Regularization</a:t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1" name="Google Shape;311;p5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55"/>
          <p:cNvSpPr txBox="1"/>
          <p:nvPr/>
        </p:nvSpPr>
        <p:spPr>
          <a:xfrm>
            <a:off x="6400800" y="1737360"/>
            <a:ext cx="5303400" cy="4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Implementation via SIGReg</a:t>
            </a:r>
            <a:endParaRPr sz="1900">
              <a:solidFill>
                <a:srgbClr val="009B9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Random 1D Projections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Projects high-dimensional representations into a set of 1D directions. Testing a sphere along multiple random slices is computationally efficient.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Epps-Pulley Test Statistic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Calculates a smooth, continuous test for Gaussianity directly on the projected 1D representations, generating stable gradients to update the model.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SIGReg Regularization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Penalizes deviations from the target Gaussian shape, ensuring the latent space never collapses while keeping complexity strictly linear.</a:t>
            </a:r>
            <a:endParaRPr b="1" sz="2800">
              <a:solidFill>
                <a:srgbClr val="009B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3" name="Google Shape;313;p55"/>
          <p:cNvSpPr txBox="1"/>
          <p:nvPr/>
        </p:nvSpPr>
        <p:spPr>
          <a:xfrm>
            <a:off x="457200" y="1737360"/>
            <a:ext cx="5303400" cy="48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Theoretical Foundation &amp; Core Concepts</a:t>
            </a:r>
            <a:endParaRPr sz="1900">
              <a:solidFill>
                <a:srgbClr val="009B9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Isotropic Gaussian Target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Forces the model's representations to follow an isotropic standard normal distribution. This creates a perfectly symmetric and uniform spherical shape in the latent space, eliminating directional bias.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Worst-Case Risk Minimization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Mathematically guarantees the minimization of the expected error on downstream linear probing tasks, providing robust bounds on unseen target domains.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Heuristic-Free Learning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Completely bypasses manual tricks like target-encoders, asymmetric network architectures, or stop-gradient operations, replacing them with statistical guarantees.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6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6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Experimental Results</a:t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9" name="Google Shape;319;p5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20" name="Google Shape;320;p56"/>
          <p:cNvGraphicFramePr/>
          <p:nvPr/>
        </p:nvGraphicFramePr>
        <p:xfrm>
          <a:off x="415675" y="153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{CE301BE8-C4C1-4CC9-9FC5-CCD455860176}</a:tableStyleId>
              </a:tblPr>
              <a:tblGrid>
                <a:gridCol w="1262275"/>
                <a:gridCol w="1262275"/>
                <a:gridCol w="1262275"/>
                <a:gridCol w="1262275"/>
                <a:gridCol w="1193275"/>
                <a:gridCol w="1331275"/>
                <a:gridCol w="1331275"/>
                <a:gridCol w="1193275"/>
                <a:gridCol w="1262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Epochs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Type (%)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Mark (%)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 (%)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Marginal Tuple (%)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Tuple with HCD-C (%)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HCD-C Gain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Invalid Tuples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EfficientNet-V2 Baseline (JBCS)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Superv. 100 ep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96.10 ± 0.70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94.4 ± 0.6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90.9 ± 0.6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85.50 ± 1.10%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Swin-Base + LeJEPA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SSL → 30 ep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94.10 ± 0.50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88.75 ± 1.08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81.07 ± 0.93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76.60 ± 1.27%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78.84 </a:t>
                      </a:r>
                      <a:r>
                        <a:rPr b="1" lang="en-US"/>
                        <a:t>± 1.20</a:t>
                      </a:r>
                      <a:r>
                        <a:rPr b="1" lang="en-US"/>
                        <a:t>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+2.24 pp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6.52% → 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ConvNeXt-Base + LeJEPA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SSL → 30 ep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94.98 ± 0.73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91.34 ± 0.87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84.97 ± 0.99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80.92 ± 1.48%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82</a:t>
                      </a:r>
                      <a:r>
                        <a:rPr b="1" lang="en-US"/>
                        <a:t>.83 ± 1.44%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+1.91 pp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5.64% → 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EfficientNet-V2 + LeJEPA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SSL → 30 ep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94.96 ± 0.71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91.10 ± 0.91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84.84 ± 1.04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81.36 ± 1.38%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82</a:t>
                      </a:r>
                      <a:r>
                        <a:rPr b="1" lang="en-US"/>
                        <a:t>.81 ± 1.32%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+1.45 pp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4.56%</a:t>
                      </a:r>
                      <a:r>
                        <a:rPr lang="en-US"/>
                        <a:t> → 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7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6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Experimental Results</a:t>
            </a:r>
            <a:endParaRPr sz="240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6" name="Google Shape;326;p5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57"/>
          <p:cNvSpPr txBox="1"/>
          <p:nvPr/>
        </p:nvSpPr>
        <p:spPr>
          <a:xfrm>
            <a:off x="457200" y="1536575"/>
            <a:ext cx="53034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Significant Boost in Joint Tuple Accuracy (Exact Match):</a:t>
            </a:r>
            <a:endParaRPr b="1" sz="2100">
              <a:solidFill>
                <a:srgbClr val="009B9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Jumps from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76.00% 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81.66%</a:t>
            </a:r>
            <a:b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(+5.66pp net gain, +7.45% relative improvement)</a:t>
            </a:r>
            <a:endParaRPr sz="19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Closes the gap to the literature ceiling (86.30%)</a:t>
            </a:r>
            <a:endParaRPr sz="19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9B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8" name="Google Shape;328;p57"/>
          <p:cNvSpPr txBox="1"/>
          <p:nvPr/>
        </p:nvSpPr>
        <p:spPr>
          <a:xfrm>
            <a:off x="6391625" y="1536585"/>
            <a:ext cx="5303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Reduction of Taxonomic Hallucinations:</a:t>
            </a:r>
            <a:endParaRPr sz="1900">
              <a:solidFill>
                <a:srgbClr val="009B9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Invalid combinations plummet from 7.51%  4.41% (Fold 0) and 4.56 ± 0.49% (10-fold mean)</a:t>
            </a:r>
            <a:endParaRPr sz="19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Lowest invalid tuple rate across all tested architectures</a:t>
            </a:r>
            <a:endParaRPr sz="1900"/>
          </a:p>
        </p:txBody>
      </p:sp>
      <p:sp>
        <p:nvSpPr>
          <p:cNvPr id="329" name="Google Shape;329;p57"/>
          <p:cNvSpPr txBox="1"/>
          <p:nvPr/>
        </p:nvSpPr>
        <p:spPr>
          <a:xfrm>
            <a:off x="3444100" y="4061450"/>
            <a:ext cx="53034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Cross-Modal Invariance (Visible RGB &amp; Nighttime Infrared)</a:t>
            </a:r>
            <a:r>
              <a:rPr b="1" lang="en-US" sz="2100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endParaRPr b="1" sz="2100">
              <a:solidFill>
                <a:srgbClr val="009B9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Infrared exact-match accuracy surges from 57.48% → 68.60% (+11.12 pp gain).</a:t>
            </a:r>
            <a:endParaRPr sz="19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SIGReg + Grayscale transformations</a:t>
            </a:r>
            <a:endParaRPr sz="19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9B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VL-JEPA: Direct Semantic Prediction in Joint Vision-Language Space</a:t>
            </a:r>
            <a:endParaRPr sz="256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5" name="Google Shape;335;p5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p58"/>
          <p:cNvSpPr txBox="1"/>
          <p:nvPr/>
        </p:nvSpPr>
        <p:spPr>
          <a:xfrm>
            <a:off x="457200" y="1737360"/>
            <a:ext cx="5303400" cy="42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Joint Latent Alignment Concepts</a:t>
            </a:r>
            <a:endParaRPr sz="1900">
              <a:solidFill>
                <a:srgbClr val="009B9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Unified Semantic Space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Maps both visual features and text descriptions into the same continuous latent space, allowing direct geometric comparison instead of discrete token matching.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Predictive Modeling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Avoids slow letter-by-letter (autoregressive) token prediction during training, guessing the complete target text embedding in one swift forward pass.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Resolving Synonyms</a:t>
            </a:r>
            <a:r>
              <a:rPr lang="en-US" sz="19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Places conceptually identical answers (e.g., *'black SUV'* and *'dark vehicle'*) close together in the latent space, resolving the synonym penalty of traditional VLMs.</a:t>
            </a:r>
            <a:endParaRPr b="1" sz="2600">
              <a:solidFill>
                <a:srgbClr val="009B9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7" name="Google Shape;337;p58"/>
          <p:cNvSpPr txBox="1"/>
          <p:nvPr/>
        </p:nvSpPr>
        <p:spPr>
          <a:xfrm>
            <a:off x="6400800" y="1737360"/>
            <a:ext cx="5303400" cy="4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Unified Component Architecture</a:t>
            </a:r>
            <a:endParaRPr sz="1900">
              <a:solidFill>
                <a:srgbClr val="009B9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X-Encoder (Vision)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Utilizes a frozen spatiotemporal V-JEPA 2 ViT-L model to extract geometric and motion features from both RGB day and IR night video streams.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Y-Encoder (Language)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Utilizes a frozen Gemma-300M model to map target labels into text embeddings, serving as the ground-truth prediction targets.</a:t>
            </a:r>
            <a:endParaRPr sz="19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Predictor &amp; Y-Decoder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A Llama 3.2-1B predictor guesses text embeddings from vision context. The Y-Decoder translates them back to text only when semantic changes are detected (Selective Decoding).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9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Future Possible Stra</a:t>
            </a:r>
            <a:endParaRPr sz="2400">
              <a:solidFill>
                <a:srgbClr val="E67E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3" name="Google Shape;343;p5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59"/>
          <p:cNvSpPr txBox="1"/>
          <p:nvPr/>
        </p:nvSpPr>
        <p:spPr>
          <a:xfrm>
            <a:off x="457200" y="1737360"/>
            <a:ext cx="53034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Recommendation 1: LeJEPA (Low-Compute)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Backbone Choice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Use a lightweight ConvNeXt-V2 Nano (14M params) or ResNet-34 (21M params).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Run with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SIGReg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to regularize daylight and infrared features into an isotropic Gaussian space.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Feed highly calibrated embeddings into the lab's existing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HCD-C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post-processing correction scripts.</a:t>
            </a:r>
            <a:endParaRPr sz="2000"/>
          </a:p>
        </p:txBody>
      </p:sp>
      <p:sp>
        <p:nvSpPr>
          <p:cNvPr id="345" name="Google Shape;345;p59"/>
          <p:cNvSpPr txBox="1"/>
          <p:nvPr/>
        </p:nvSpPr>
        <p:spPr>
          <a:xfrm>
            <a:off x="6400800" y="1737360"/>
            <a:ext cx="53034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9B9E"/>
                </a:solidFill>
                <a:latin typeface="Georgia"/>
                <a:ea typeface="Georgia"/>
                <a:cs typeface="Georgia"/>
                <a:sym typeface="Georgia"/>
              </a:rPr>
              <a:t>Recommendation 2: VL-JEPA (Zero-Shot)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Backbone Choice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Frozen V-JEPA 2 (304M) and Gemma-300M paired with Llama-3.2-1B predictor layers (~1.6B total params).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Perform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zero-shot matching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directly against the 225 valid catalog text prompts at inference time.</a:t>
            </a:r>
            <a:endParaRPr sz="20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Inconsistency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Reduces invalid tuple predictions to </a:t>
            </a:r>
            <a:r>
              <a:rPr b="1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exactly 0%</a:t>
            </a:r>
            <a:r>
              <a:rPr b="0" i="0" lang="en-US" sz="19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without needing HCD-C.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0"/>
          <p:cNvSpPr txBox="1"/>
          <p:nvPr>
            <p:ph type="title"/>
          </p:nvPr>
        </p:nvSpPr>
        <p:spPr>
          <a:xfrm>
            <a:off x="415589" y="593367"/>
            <a:ext cx="113604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900"/>
              <a:t>References</a:t>
            </a:r>
            <a:endParaRPr sz="2900"/>
          </a:p>
        </p:txBody>
      </p:sp>
      <p:sp>
        <p:nvSpPr>
          <p:cNvPr id="351" name="Google Shape;351;p6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60"/>
          <p:cNvSpPr txBox="1"/>
          <p:nvPr>
            <p:ph idx="1" type="body"/>
          </p:nvPr>
        </p:nvSpPr>
        <p:spPr>
          <a:xfrm>
            <a:off x="415589" y="1688433"/>
            <a:ext cx="113604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Lima, G. E., Nascimento, V., Santos, E., Nascimento Jr., E., Laroca, R., Menotti, D. Toward Unified Fine-Grained Vehicle Classification and Automatic License Plate Recognition. JBCS, 32(1):783–799, 2026.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Assran, M., Duval, Q., Misra, I., Bojanowski, P., Vincent, P., Rabbat, M., LeCun, Y., Ballas, N. Self-Supervised Learning from Images with a Joint-Embedding Predictive Architecture. CVPR, 15619–15629, 2023.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 Balestriero, R., LeCun, Y. LeJEPA: Provable and Scalable Self-Supervised Learning Without the Heuristics. arXiv:2511.08544, 2025.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 Chen, D., Shukor, M., Moutakanni, T., Chung, W., Yu, J., Kasarla, T., Bolourchi, A., LeCun, Y., Fung, P. VL-JEPA: Joint Embedding Predictive Architecture for Vision-Language. ICLR, 2026.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 Bardes, A., Garrido, Q., Ponce, J., Chen, X., Rabbat, M., LeCun, Y., Assran, M., Ballas, N. V-JEPA: Latent Video Prediction for Visual Representation Learning. arXiv:2404.08471, 2024.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 Assran, M. et al. V-JEPA 2: Self-Supervised Video Models Enable Understanding, Prediction and Planning. arXiv:2506.09985, 2025.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 Mur-Labadia, L. et al. V-JEPA 2.1: Unlocking Dense Features in Video Self-Supervised Learning. arXiv:2603.14482,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